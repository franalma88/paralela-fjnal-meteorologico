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6256000" cy="9144000"/>
  <p:notesSz cx="9144000" cy="16256000"/>
  <p:embeddedFontLst>
    <p:embeddedFont>
      <p:font typeface="Liter" panose="020B0604020202020204" charset="0"/>
      <p:regular r:id="rId17"/>
    </p:embeddedFont>
    <p:embeddedFont>
      <p:font typeface="Quattrocento Sans" panose="020B0502050000020003" pitchFamily="34" charset="0"/>
      <p:regular r:id="rId18"/>
    </p:embeddedFont>
  </p:embeddedFont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8D49"/>
    <a:srgbClr val="D3984F"/>
    <a:srgbClr val="6B5B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91" autoAdjust="0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112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3030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4F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9AB76F0F-1727-00F6-3AE8-8E89F7E5E5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58" y="81222"/>
            <a:ext cx="16319499" cy="9108558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179033" y="2476500"/>
            <a:ext cx="6266155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400" b="1" kern="0" spc="1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Estación Meteorológica </a:t>
            </a:r>
          </a:p>
          <a:p>
            <a:pPr algn="ctr">
              <a:lnSpc>
                <a:spcPct val="100000"/>
              </a:lnSpc>
            </a:pPr>
            <a:r>
              <a:rPr lang="en-US" sz="4400" b="1" kern="0" spc="1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IoT Concurrente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858000" y="4572000"/>
            <a:ext cx="2540000" cy="3810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1099104" y="4127501"/>
            <a:ext cx="4769035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Arquitectura, Flujo de Datos y Visualización en Tiempo Real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814264" y="81222"/>
            <a:ext cx="6441736" cy="6827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Sistema de Sensores Simulados · WebSocket · Dashboard Interactivo</a:t>
            </a:r>
            <a:endParaRPr lang="en-US" sz="16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5B26D195-EA08-9A9D-CEE2-BAD24D7968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71598" y="7457243"/>
            <a:ext cx="2183907" cy="1455938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9E9225ED-FF39-C739-B8D7-315087B6EABA}"/>
              </a:ext>
            </a:extLst>
          </p:cNvPr>
          <p:cNvSpPr txBox="1"/>
          <p:nvPr/>
        </p:nvSpPr>
        <p:spPr>
          <a:xfrm>
            <a:off x="14300207" y="8774082"/>
            <a:ext cx="1762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rgbClr val="C88D49"/>
                </a:solidFill>
              </a:rPr>
              <a:t>Capibara Station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B4F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Contenido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397000"/>
            <a:ext cx="14732000" cy="25400"/>
          </a:xfrm>
          <a:prstGeom prst="rect">
            <a:avLst/>
          </a:prstGeom>
          <a:solidFill>
            <a:srgbClr val="E0E6E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762000" y="1905000"/>
            <a:ext cx="127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1B7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286000" y="1905000"/>
            <a:ext cx="762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Visión General de la Arquitectura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0" y="2667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5C6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Flujo de datos e información del sistema completo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3556000"/>
            <a:ext cx="127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1B7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86000" y="3556000"/>
            <a:ext cx="762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Backend: Simulador IoT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286000" y="4318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5C6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Gestión concurrente de sensores simulados mediante hilos especializados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5207000"/>
            <a:ext cx="127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6C4C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286000" y="5207000"/>
            <a:ext cx="762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Servidor WebSocket y Comunicación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286000" y="5969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5C6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Puente asíncrono entre el simulador y los clientes web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6858000"/>
            <a:ext cx="127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2E86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286000" y="6858000"/>
            <a:ext cx="762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Frontend, Rendimiento y Requisitos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286000" y="7620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5C6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Visualización del dashboard y análisis de rendimiento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700000" y="8636000"/>
            <a:ext cx="279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5C6B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Estación Meteorológica IoT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4F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588000" y="2540000"/>
            <a:ext cx="508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FFFFFF">
                    <a:alpha val="18824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048000" y="3937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Visión General de la Arquitectura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83000" y="4953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Flujo de datos e información del sistema completo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B4F6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762000" y="381000"/>
            <a:ext cx="1016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B4F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Arquitectura del Sistema IoT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14732000" cy="25400"/>
          </a:xfrm>
          <a:prstGeom prst="rect">
            <a:avLst/>
          </a:prstGeom>
          <a:solidFill>
            <a:srgbClr val="E0E6EB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5" name="Image 0" descr="https://kimi-img.moonshot.cn/pub/slides/okc/qoz7rh3fefqqa/mnt/agents/output/iot-meteo/images/flujo_datos.png"/>
          <p:cNvPicPr>
            <a:picLocks noChangeAspect="1"/>
          </p:cNvPicPr>
          <p:nvPr/>
        </p:nvPicPr>
        <p:blipFill>
          <a:blip r:embed="rId3"/>
          <a:srcRect l="-16379" r="-16379"/>
          <a:stretch/>
        </p:blipFill>
        <p:spPr>
          <a:xfrm>
            <a:off x="762000" y="1270000"/>
            <a:ext cx="14732000" cy="660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2000" y="81280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1B7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 Simulador IoT</a:t>
            </a:r>
            <a:r>
              <a:rPr lang="en-US" sz="1400" dirty="0">
                <a:solidFill>
                  <a:srgbClr val="5C6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400" dirty="0">
                <a:solidFill>
                  <a:srgbClr val="6C4C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 Servidor WebSocket</a:t>
            </a:r>
            <a:r>
              <a:rPr lang="en-US" sz="1400" dirty="0">
                <a:solidFill>
                  <a:srgbClr val="5C6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400" dirty="0">
                <a:solidFill>
                  <a:srgbClr val="2E86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 Cliente Web</a:t>
            </a:r>
            <a:r>
              <a:rPr lang="en-US" sz="1400" dirty="0">
                <a:solidFill>
                  <a:srgbClr val="5C6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Flujo interno → Consulta → Envío a clientes - - - Visualización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2700000" y="8826500"/>
            <a:ext cx="279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5C6B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Estación Meteorológica IoT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7A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588000" y="2540000"/>
            <a:ext cx="508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FFFFFF">
                    <a:alpha val="18824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048000" y="3937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Backend: Simulador IoT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413000" y="4953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Gestión concurrente de sensores simulados mediante hilos especializados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7A4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762000" y="381000"/>
            <a:ext cx="1016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B4F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Hilos Concurrentes: Productor y Consumidor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14732000" cy="25400"/>
          </a:xfrm>
          <a:prstGeom prst="rect">
            <a:avLst/>
          </a:prstGeom>
          <a:solidFill>
            <a:srgbClr val="E0E6E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45720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762000" y="1397000"/>
            <a:ext cx="50800" cy="3302000"/>
          </a:xfrm>
          <a:prstGeom prst="rect">
            <a:avLst/>
          </a:prstGeom>
          <a:solidFill>
            <a:srgbClr val="1B7A4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1016000" y="1651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93576" y="9426"/>
                </a:moveTo>
                <a:cubicBezTo>
                  <a:pt x="196552" y="-5259"/>
                  <a:pt x="209550" y="-15875"/>
                  <a:pt x="224631" y="-15875"/>
                </a:cubicBezTo>
                <a:lnTo>
                  <a:pt x="283964" y="-15875"/>
                </a:lnTo>
                <a:cubicBezTo>
                  <a:pt x="299045" y="-15875"/>
                  <a:pt x="312043" y="-5259"/>
                  <a:pt x="315020" y="9426"/>
                </a:cubicBezTo>
                <a:lnTo>
                  <a:pt x="329406" y="78879"/>
                </a:lnTo>
                <a:cubicBezTo>
                  <a:pt x="343396" y="84832"/>
                  <a:pt x="356493" y="92472"/>
                  <a:pt x="368399" y="101501"/>
                </a:cubicBezTo>
                <a:lnTo>
                  <a:pt x="435670" y="79177"/>
                </a:lnTo>
                <a:cubicBezTo>
                  <a:pt x="449957" y="74414"/>
                  <a:pt x="465634" y="80367"/>
                  <a:pt x="473174" y="93464"/>
                </a:cubicBezTo>
                <a:lnTo>
                  <a:pt x="502841" y="144859"/>
                </a:lnTo>
                <a:cubicBezTo>
                  <a:pt x="510381" y="157956"/>
                  <a:pt x="507702" y="174427"/>
                  <a:pt x="496391" y="184448"/>
                </a:cubicBezTo>
                <a:lnTo>
                  <a:pt x="443508" y="231477"/>
                </a:lnTo>
                <a:cubicBezTo>
                  <a:pt x="444401" y="238820"/>
                  <a:pt x="444798" y="246360"/>
                  <a:pt x="444798" y="254000"/>
                </a:cubicBezTo>
                <a:cubicBezTo>
                  <a:pt x="444798" y="261640"/>
                  <a:pt x="444302" y="269180"/>
                  <a:pt x="443508" y="276523"/>
                </a:cubicBezTo>
                <a:lnTo>
                  <a:pt x="496491" y="323652"/>
                </a:lnTo>
                <a:cubicBezTo>
                  <a:pt x="507802" y="333673"/>
                  <a:pt x="510381" y="350242"/>
                  <a:pt x="502940" y="363240"/>
                </a:cubicBezTo>
                <a:lnTo>
                  <a:pt x="473273" y="414635"/>
                </a:lnTo>
                <a:cubicBezTo>
                  <a:pt x="465733" y="427633"/>
                  <a:pt x="450056" y="433685"/>
                  <a:pt x="435769" y="428923"/>
                </a:cubicBezTo>
                <a:lnTo>
                  <a:pt x="368498" y="406598"/>
                </a:lnTo>
                <a:cubicBezTo>
                  <a:pt x="356493" y="415627"/>
                  <a:pt x="343396" y="423168"/>
                  <a:pt x="329505" y="429220"/>
                </a:cubicBezTo>
                <a:lnTo>
                  <a:pt x="315218" y="498574"/>
                </a:lnTo>
                <a:cubicBezTo>
                  <a:pt x="312142" y="513358"/>
                  <a:pt x="299145" y="523875"/>
                  <a:pt x="284162" y="523875"/>
                </a:cubicBezTo>
                <a:lnTo>
                  <a:pt x="224830" y="523875"/>
                </a:lnTo>
                <a:cubicBezTo>
                  <a:pt x="209748" y="523875"/>
                  <a:pt x="196751" y="513259"/>
                  <a:pt x="193774" y="498574"/>
                </a:cubicBezTo>
                <a:lnTo>
                  <a:pt x="179487" y="429220"/>
                </a:lnTo>
                <a:cubicBezTo>
                  <a:pt x="165497" y="423267"/>
                  <a:pt x="152499" y="415627"/>
                  <a:pt x="140494" y="406598"/>
                </a:cubicBezTo>
                <a:lnTo>
                  <a:pt x="72926" y="428923"/>
                </a:lnTo>
                <a:cubicBezTo>
                  <a:pt x="58638" y="433685"/>
                  <a:pt x="42962" y="427732"/>
                  <a:pt x="35421" y="414635"/>
                </a:cubicBezTo>
                <a:lnTo>
                  <a:pt x="5755" y="363240"/>
                </a:lnTo>
                <a:cubicBezTo>
                  <a:pt x="-1786" y="350143"/>
                  <a:pt x="893" y="333673"/>
                  <a:pt x="12204" y="323652"/>
                </a:cubicBezTo>
                <a:lnTo>
                  <a:pt x="65187" y="276523"/>
                </a:lnTo>
                <a:cubicBezTo>
                  <a:pt x="64294" y="269180"/>
                  <a:pt x="63897" y="261640"/>
                  <a:pt x="63897" y="254000"/>
                </a:cubicBezTo>
                <a:cubicBezTo>
                  <a:pt x="63897" y="246360"/>
                  <a:pt x="64393" y="238820"/>
                  <a:pt x="65187" y="231477"/>
                </a:cubicBezTo>
                <a:lnTo>
                  <a:pt x="12204" y="184348"/>
                </a:lnTo>
                <a:cubicBezTo>
                  <a:pt x="893" y="174327"/>
                  <a:pt x="-1687" y="157758"/>
                  <a:pt x="5755" y="144760"/>
                </a:cubicBezTo>
                <a:lnTo>
                  <a:pt x="35421" y="93365"/>
                </a:lnTo>
                <a:cubicBezTo>
                  <a:pt x="42962" y="80268"/>
                  <a:pt x="58638" y="74315"/>
                  <a:pt x="72926" y="79077"/>
                </a:cubicBezTo>
                <a:lnTo>
                  <a:pt x="140196" y="101402"/>
                </a:lnTo>
                <a:cubicBezTo>
                  <a:pt x="152202" y="92373"/>
                  <a:pt x="165298" y="84832"/>
                  <a:pt x="179189" y="78780"/>
                </a:cubicBezTo>
                <a:lnTo>
                  <a:pt x="193576" y="9426"/>
                </a:lnTo>
                <a:close/>
                <a:moveTo>
                  <a:pt x="254298" y="333375"/>
                </a:moveTo>
                <a:cubicBezTo>
                  <a:pt x="282656" y="333269"/>
                  <a:pt x="308803" y="318042"/>
                  <a:pt x="322890" y="293430"/>
                </a:cubicBezTo>
                <a:cubicBezTo>
                  <a:pt x="336976" y="268818"/>
                  <a:pt x="336863" y="238560"/>
                  <a:pt x="322592" y="214055"/>
                </a:cubicBezTo>
                <a:cubicBezTo>
                  <a:pt x="308321" y="189549"/>
                  <a:pt x="282060" y="174519"/>
                  <a:pt x="253702" y="174625"/>
                </a:cubicBezTo>
                <a:cubicBezTo>
                  <a:pt x="225344" y="174731"/>
                  <a:pt x="199197" y="189958"/>
                  <a:pt x="185110" y="214570"/>
                </a:cubicBezTo>
                <a:cubicBezTo>
                  <a:pt x="171024" y="239182"/>
                  <a:pt x="171137" y="269440"/>
                  <a:pt x="185408" y="293945"/>
                </a:cubicBezTo>
                <a:cubicBezTo>
                  <a:pt x="199679" y="318451"/>
                  <a:pt x="225940" y="333481"/>
                  <a:pt x="254298" y="333375"/>
                </a:cubicBezTo>
                <a:close/>
              </a:path>
            </a:pathLst>
          </a:custGeom>
          <a:solidFill>
            <a:srgbClr val="1B7A4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1714500" y="1651000"/>
            <a:ext cx="330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63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Productor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349500"/>
            <a:ext cx="4064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 datos meteorológicos simulados cada </a:t>
            </a:r>
            <a:r>
              <a:rPr lang="en-US" sz="1600" b="1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 segundos</a:t>
            </a:r>
            <a:r>
              <a:rPr lang="en-US" sz="16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 los inserta en la </a:t>
            </a:r>
            <a:r>
              <a:rPr lang="en-US" sz="1600" b="1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Cola (Queue)</a:t>
            </a:r>
            <a:r>
              <a:rPr lang="en-US" sz="16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para su procesamiento asíncrono.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42000" y="1397000"/>
            <a:ext cx="45720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5842000" y="1397000"/>
            <a:ext cx="50800" cy="3048000"/>
          </a:xfrm>
          <a:prstGeom prst="rect">
            <a:avLst/>
          </a:prstGeom>
          <a:solidFill>
            <a:srgbClr val="6C4C9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6127750" y="16510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444500" y="204192"/>
                </a:moveTo>
                <a:cubicBezTo>
                  <a:pt x="429816" y="213916"/>
                  <a:pt x="412948" y="221754"/>
                  <a:pt x="395387" y="228005"/>
                </a:cubicBezTo>
                <a:cubicBezTo>
                  <a:pt x="348754" y="244673"/>
                  <a:pt x="287536" y="254000"/>
                  <a:pt x="222250" y="254000"/>
                </a:cubicBezTo>
                <a:cubicBezTo>
                  <a:pt x="156964" y="254000"/>
                  <a:pt x="95647" y="244574"/>
                  <a:pt x="49113" y="228005"/>
                </a:cubicBezTo>
                <a:cubicBezTo>
                  <a:pt x="31651" y="221754"/>
                  <a:pt x="14684" y="213916"/>
                  <a:pt x="0" y="204192"/>
                </a:cubicBezTo>
                <a:lnTo>
                  <a:pt x="0" y="285750"/>
                </a:lnTo>
                <a:cubicBezTo>
                  <a:pt x="0" y="329605"/>
                  <a:pt x="99516" y="365125"/>
                  <a:pt x="222250" y="365125"/>
                </a:cubicBezTo>
                <a:cubicBezTo>
                  <a:pt x="344984" y="365125"/>
                  <a:pt x="444500" y="329605"/>
                  <a:pt x="444500" y="285750"/>
                </a:cubicBezTo>
                <a:lnTo>
                  <a:pt x="444500" y="204192"/>
                </a:lnTo>
                <a:close/>
                <a:moveTo>
                  <a:pt x="444500" y="127000"/>
                </a:moveTo>
                <a:lnTo>
                  <a:pt x="444500" y="79375"/>
                </a:lnTo>
                <a:cubicBezTo>
                  <a:pt x="444500" y="35520"/>
                  <a:pt x="344984" y="0"/>
                  <a:pt x="222250" y="0"/>
                </a:cubicBezTo>
                <a:cubicBezTo>
                  <a:pt x="99516" y="0"/>
                  <a:pt x="0" y="35520"/>
                  <a:pt x="0" y="79375"/>
                </a:cubicBezTo>
                <a:lnTo>
                  <a:pt x="0" y="127000"/>
                </a:lnTo>
                <a:cubicBezTo>
                  <a:pt x="0" y="170855"/>
                  <a:pt x="99516" y="206375"/>
                  <a:pt x="222250" y="206375"/>
                </a:cubicBezTo>
                <a:cubicBezTo>
                  <a:pt x="344984" y="206375"/>
                  <a:pt x="444500" y="170855"/>
                  <a:pt x="444500" y="127000"/>
                </a:cubicBezTo>
                <a:close/>
                <a:moveTo>
                  <a:pt x="395387" y="386755"/>
                </a:moveTo>
                <a:cubicBezTo>
                  <a:pt x="348853" y="403324"/>
                  <a:pt x="287635" y="412750"/>
                  <a:pt x="222250" y="412750"/>
                </a:cubicBezTo>
                <a:cubicBezTo>
                  <a:pt x="156865" y="412750"/>
                  <a:pt x="95647" y="403324"/>
                  <a:pt x="49113" y="386755"/>
                </a:cubicBezTo>
                <a:cubicBezTo>
                  <a:pt x="31651" y="380504"/>
                  <a:pt x="14684" y="372666"/>
                  <a:pt x="0" y="362942"/>
                </a:cubicBezTo>
                <a:lnTo>
                  <a:pt x="0" y="428625"/>
                </a:lnTo>
                <a:cubicBezTo>
                  <a:pt x="0" y="472480"/>
                  <a:pt x="99516" y="508000"/>
                  <a:pt x="222250" y="508000"/>
                </a:cubicBezTo>
                <a:cubicBezTo>
                  <a:pt x="344984" y="508000"/>
                  <a:pt x="444500" y="472480"/>
                  <a:pt x="444500" y="428625"/>
                </a:cubicBezTo>
                <a:lnTo>
                  <a:pt x="444500" y="362942"/>
                </a:lnTo>
                <a:cubicBezTo>
                  <a:pt x="429816" y="372666"/>
                  <a:pt x="412948" y="380504"/>
                  <a:pt x="395387" y="386755"/>
                </a:cubicBezTo>
                <a:close/>
              </a:path>
            </a:pathLst>
          </a:custGeom>
          <a:solidFill>
            <a:srgbClr val="6C4C9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6794500" y="1651000"/>
            <a:ext cx="330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63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Cola (Queue)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96000" y="2349500"/>
            <a:ext cx="4064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Buffer intermedio que </a:t>
            </a:r>
            <a:r>
              <a:rPr lang="en-US" sz="1600" b="1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desacopla</a:t>
            </a:r>
            <a:r>
              <a:rPr lang="en-US" sz="16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la generación de datos del procesamiento.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Permite que Productor y Consumidor operen a velocidades independientes.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922000" y="1397000"/>
            <a:ext cx="45720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10922000" y="1397000"/>
            <a:ext cx="50800" cy="30480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11176000" y="1651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74625" y="23812"/>
                </a:moveTo>
                <a:cubicBezTo>
                  <a:pt x="174625" y="10616"/>
                  <a:pt x="164009" y="0"/>
                  <a:pt x="150813" y="0"/>
                </a:cubicBezTo>
                <a:cubicBezTo>
                  <a:pt x="137616" y="0"/>
                  <a:pt x="127000" y="10616"/>
                  <a:pt x="127000" y="23812"/>
                </a:cubicBezTo>
                <a:lnTo>
                  <a:pt x="127000" y="63500"/>
                </a:lnTo>
                <a:cubicBezTo>
                  <a:pt x="91976" y="63500"/>
                  <a:pt x="63500" y="91976"/>
                  <a:pt x="63500" y="127000"/>
                </a:cubicBezTo>
                <a:lnTo>
                  <a:pt x="23812" y="127000"/>
                </a:lnTo>
                <a:cubicBezTo>
                  <a:pt x="10616" y="127000"/>
                  <a:pt x="0" y="137616"/>
                  <a:pt x="0" y="150813"/>
                </a:cubicBezTo>
                <a:cubicBezTo>
                  <a:pt x="0" y="164009"/>
                  <a:pt x="10616" y="174625"/>
                  <a:pt x="23812" y="174625"/>
                </a:cubicBezTo>
                <a:lnTo>
                  <a:pt x="63500" y="174625"/>
                </a:lnTo>
                <a:lnTo>
                  <a:pt x="63500" y="230188"/>
                </a:lnTo>
                <a:lnTo>
                  <a:pt x="23812" y="230188"/>
                </a:lnTo>
                <a:cubicBezTo>
                  <a:pt x="10616" y="230188"/>
                  <a:pt x="0" y="240804"/>
                  <a:pt x="0" y="254000"/>
                </a:cubicBezTo>
                <a:cubicBezTo>
                  <a:pt x="0" y="267196"/>
                  <a:pt x="10616" y="277813"/>
                  <a:pt x="23812" y="277813"/>
                </a:cubicBezTo>
                <a:lnTo>
                  <a:pt x="63500" y="277813"/>
                </a:lnTo>
                <a:lnTo>
                  <a:pt x="63500" y="333375"/>
                </a:lnTo>
                <a:lnTo>
                  <a:pt x="23812" y="333375"/>
                </a:lnTo>
                <a:cubicBezTo>
                  <a:pt x="10616" y="333375"/>
                  <a:pt x="0" y="343991"/>
                  <a:pt x="0" y="357188"/>
                </a:cubicBezTo>
                <a:cubicBezTo>
                  <a:pt x="0" y="370384"/>
                  <a:pt x="10616" y="381000"/>
                  <a:pt x="23812" y="381000"/>
                </a:cubicBezTo>
                <a:lnTo>
                  <a:pt x="63500" y="381000"/>
                </a:lnTo>
                <a:cubicBezTo>
                  <a:pt x="63500" y="416024"/>
                  <a:pt x="91976" y="444500"/>
                  <a:pt x="127000" y="444500"/>
                </a:cubicBezTo>
                <a:lnTo>
                  <a:pt x="127000" y="484187"/>
                </a:lnTo>
                <a:cubicBezTo>
                  <a:pt x="127000" y="497384"/>
                  <a:pt x="137616" y="508000"/>
                  <a:pt x="150813" y="508000"/>
                </a:cubicBezTo>
                <a:cubicBezTo>
                  <a:pt x="164009" y="508000"/>
                  <a:pt x="174625" y="497384"/>
                  <a:pt x="174625" y="484187"/>
                </a:cubicBezTo>
                <a:lnTo>
                  <a:pt x="174625" y="444500"/>
                </a:lnTo>
                <a:lnTo>
                  <a:pt x="230188" y="444500"/>
                </a:lnTo>
                <a:lnTo>
                  <a:pt x="230188" y="484187"/>
                </a:lnTo>
                <a:cubicBezTo>
                  <a:pt x="230188" y="497384"/>
                  <a:pt x="240804" y="508000"/>
                  <a:pt x="254000" y="508000"/>
                </a:cubicBezTo>
                <a:cubicBezTo>
                  <a:pt x="267196" y="508000"/>
                  <a:pt x="277813" y="497384"/>
                  <a:pt x="277813" y="484187"/>
                </a:cubicBezTo>
                <a:lnTo>
                  <a:pt x="277813" y="444500"/>
                </a:lnTo>
                <a:lnTo>
                  <a:pt x="333375" y="444500"/>
                </a:lnTo>
                <a:lnTo>
                  <a:pt x="333375" y="484187"/>
                </a:lnTo>
                <a:cubicBezTo>
                  <a:pt x="333375" y="497384"/>
                  <a:pt x="343991" y="508000"/>
                  <a:pt x="357188" y="508000"/>
                </a:cubicBezTo>
                <a:cubicBezTo>
                  <a:pt x="370384" y="508000"/>
                  <a:pt x="381000" y="497384"/>
                  <a:pt x="381000" y="484187"/>
                </a:cubicBezTo>
                <a:lnTo>
                  <a:pt x="381000" y="444500"/>
                </a:lnTo>
                <a:cubicBezTo>
                  <a:pt x="416024" y="444500"/>
                  <a:pt x="444500" y="416024"/>
                  <a:pt x="444500" y="381000"/>
                </a:cubicBezTo>
                <a:lnTo>
                  <a:pt x="484187" y="381000"/>
                </a:lnTo>
                <a:cubicBezTo>
                  <a:pt x="497384" y="381000"/>
                  <a:pt x="508000" y="370384"/>
                  <a:pt x="508000" y="357188"/>
                </a:cubicBezTo>
                <a:cubicBezTo>
                  <a:pt x="508000" y="343991"/>
                  <a:pt x="497384" y="333375"/>
                  <a:pt x="484187" y="333375"/>
                </a:cubicBezTo>
                <a:lnTo>
                  <a:pt x="444500" y="333375"/>
                </a:lnTo>
                <a:lnTo>
                  <a:pt x="444500" y="277813"/>
                </a:lnTo>
                <a:lnTo>
                  <a:pt x="484187" y="277813"/>
                </a:lnTo>
                <a:cubicBezTo>
                  <a:pt x="497384" y="277813"/>
                  <a:pt x="508000" y="267196"/>
                  <a:pt x="508000" y="254000"/>
                </a:cubicBezTo>
                <a:cubicBezTo>
                  <a:pt x="508000" y="240804"/>
                  <a:pt x="497384" y="230188"/>
                  <a:pt x="484187" y="230188"/>
                </a:cubicBezTo>
                <a:lnTo>
                  <a:pt x="444500" y="230188"/>
                </a:lnTo>
                <a:lnTo>
                  <a:pt x="444500" y="174625"/>
                </a:lnTo>
                <a:lnTo>
                  <a:pt x="484187" y="174625"/>
                </a:lnTo>
                <a:cubicBezTo>
                  <a:pt x="497384" y="174625"/>
                  <a:pt x="508000" y="164009"/>
                  <a:pt x="508000" y="150813"/>
                </a:cubicBezTo>
                <a:cubicBezTo>
                  <a:pt x="508000" y="137616"/>
                  <a:pt x="497384" y="127000"/>
                  <a:pt x="484187" y="127000"/>
                </a:cubicBezTo>
                <a:lnTo>
                  <a:pt x="444500" y="127000"/>
                </a:lnTo>
                <a:cubicBezTo>
                  <a:pt x="444500" y="91976"/>
                  <a:pt x="416024" y="63500"/>
                  <a:pt x="381000" y="63500"/>
                </a:cubicBezTo>
                <a:lnTo>
                  <a:pt x="381000" y="23812"/>
                </a:lnTo>
                <a:cubicBezTo>
                  <a:pt x="381000" y="10616"/>
                  <a:pt x="370384" y="0"/>
                  <a:pt x="357188" y="0"/>
                </a:cubicBezTo>
                <a:cubicBezTo>
                  <a:pt x="343991" y="0"/>
                  <a:pt x="333375" y="10616"/>
                  <a:pt x="333375" y="23812"/>
                </a:cubicBezTo>
                <a:lnTo>
                  <a:pt x="333375" y="63500"/>
                </a:lnTo>
                <a:lnTo>
                  <a:pt x="277813" y="63500"/>
                </a:lnTo>
                <a:lnTo>
                  <a:pt x="277813" y="23812"/>
                </a:lnTo>
                <a:cubicBezTo>
                  <a:pt x="277813" y="10616"/>
                  <a:pt x="267196" y="0"/>
                  <a:pt x="254000" y="0"/>
                </a:cubicBezTo>
                <a:cubicBezTo>
                  <a:pt x="240804" y="0"/>
                  <a:pt x="230188" y="10616"/>
                  <a:pt x="230188" y="23812"/>
                </a:cubicBezTo>
                <a:lnTo>
                  <a:pt x="230188" y="63500"/>
                </a:lnTo>
                <a:lnTo>
                  <a:pt x="174625" y="63500"/>
                </a:lnTo>
                <a:lnTo>
                  <a:pt x="174625" y="23812"/>
                </a:lnTo>
                <a:close/>
                <a:moveTo>
                  <a:pt x="158750" y="127000"/>
                </a:moveTo>
                <a:lnTo>
                  <a:pt x="349250" y="127000"/>
                </a:lnTo>
                <a:cubicBezTo>
                  <a:pt x="366812" y="127000"/>
                  <a:pt x="381000" y="141188"/>
                  <a:pt x="381000" y="158750"/>
                </a:cubicBezTo>
                <a:lnTo>
                  <a:pt x="381000" y="349250"/>
                </a:lnTo>
                <a:cubicBezTo>
                  <a:pt x="381000" y="366812"/>
                  <a:pt x="366812" y="381000"/>
                  <a:pt x="349250" y="381000"/>
                </a:cubicBezTo>
                <a:lnTo>
                  <a:pt x="158750" y="381000"/>
                </a:lnTo>
                <a:cubicBezTo>
                  <a:pt x="141188" y="381000"/>
                  <a:pt x="127000" y="366812"/>
                  <a:pt x="127000" y="349250"/>
                </a:cubicBezTo>
                <a:lnTo>
                  <a:pt x="127000" y="158750"/>
                </a:lnTo>
                <a:cubicBezTo>
                  <a:pt x="127000" y="141188"/>
                  <a:pt x="141188" y="127000"/>
                  <a:pt x="158750" y="127000"/>
                </a:cubicBezTo>
                <a:close/>
                <a:moveTo>
                  <a:pt x="174625" y="174625"/>
                </a:moveTo>
                <a:lnTo>
                  <a:pt x="174625" y="333375"/>
                </a:lnTo>
                <a:lnTo>
                  <a:pt x="333375" y="333375"/>
                </a:lnTo>
                <a:lnTo>
                  <a:pt x="333375" y="174625"/>
                </a:lnTo>
                <a:lnTo>
                  <a:pt x="174625" y="174625"/>
                </a:lnTo>
                <a:close/>
              </a:path>
            </a:pathLst>
          </a:custGeom>
          <a:solidFill>
            <a:srgbClr val="2E86A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11874500" y="1651000"/>
            <a:ext cx="330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63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Consumidor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176000" y="2349500"/>
            <a:ext cx="4064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Extrae datos de la cola y los </a:t>
            </a:r>
            <a:r>
              <a:rPr lang="en-US" sz="1600" b="1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procesa</a:t>
            </a:r>
            <a:r>
              <a:rPr lang="en-US" sz="16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para almacenar el estado final.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Actualiza </a:t>
            </a:r>
            <a:r>
              <a:rPr lang="en-US" sz="1600" b="1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ultimo_dato</a:t>
            </a:r>
            <a:r>
              <a:rPr lang="en-US" sz="16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 las variables compartidas protegidas.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2000" y="48260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B4F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Patrón Productor-Consumidor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2000" y="5334000"/>
            <a:ext cx="14732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 simulador implementa el clásico </a:t>
            </a:r>
            <a:r>
              <a:rPr lang="en-US" sz="1800" b="1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patrón Productor-Consumidor</a:t>
            </a:r>
            <a:r>
              <a:rPr lang="en-US" sz="18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 tres hilos especializados: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800" b="1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Hilo Productor</a:t>
            </a:r>
            <a:r>
              <a:rPr lang="en-US" sz="18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Simula sensores meteorológicos y encola lecturas periódicas.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800" b="1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Hilo Consumidor</a:t>
            </a:r>
            <a:r>
              <a:rPr lang="en-US" sz="18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Desencola y procesa cada lectura, actualizando el estado compartido.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800" b="1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Hilo Monitor</a:t>
            </a:r>
            <a:r>
              <a:rPr lang="en-US" sz="18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Calcula estadísticas de rendimiento cada 10 segundos.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700000" y="8826500"/>
            <a:ext cx="279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5C6B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Estación Meteorológica IoT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7A4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762000" y="3810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B4F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Sincronización y Monitor de Rendimiento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14732000" cy="25400"/>
          </a:xfrm>
          <a:prstGeom prst="rect">
            <a:avLst/>
          </a:prstGeom>
          <a:solidFill>
            <a:srgbClr val="E0E6E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45720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762000" y="1397000"/>
            <a:ext cx="4572000" cy="5080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1073150" y="17145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114300" y="85725"/>
                </a:moveTo>
                <a:lnTo>
                  <a:pt x="114300" y="142875"/>
                </a:lnTo>
                <a:lnTo>
                  <a:pt x="228600" y="142875"/>
                </a:lnTo>
                <a:lnTo>
                  <a:pt x="228600" y="85725"/>
                </a:lnTo>
                <a:cubicBezTo>
                  <a:pt x="228600" y="54203"/>
                  <a:pt x="202972" y="28575"/>
                  <a:pt x="171450" y="28575"/>
                </a:cubicBezTo>
                <a:cubicBezTo>
                  <a:pt x="139928" y="28575"/>
                  <a:pt x="114300" y="54203"/>
                  <a:pt x="114300" y="85725"/>
                </a:cubicBezTo>
                <a:close/>
                <a:moveTo>
                  <a:pt x="57150" y="142875"/>
                </a:moveTo>
                <a:lnTo>
                  <a:pt x="57150" y="85725"/>
                </a:lnTo>
                <a:cubicBezTo>
                  <a:pt x="57150" y="22592"/>
                  <a:pt x="108317" y="-28575"/>
                  <a:pt x="171450" y="-28575"/>
                </a:cubicBezTo>
                <a:cubicBezTo>
                  <a:pt x="234583" y="-28575"/>
                  <a:pt x="285750" y="22592"/>
                  <a:pt x="285750" y="85725"/>
                </a:cubicBezTo>
                <a:lnTo>
                  <a:pt x="285750" y="142875"/>
                </a:lnTo>
                <a:cubicBezTo>
                  <a:pt x="317272" y="142875"/>
                  <a:pt x="342900" y="168503"/>
                  <a:pt x="342900" y="200025"/>
                </a:cubicBezTo>
                <a:lnTo>
                  <a:pt x="342900" y="400050"/>
                </a:lnTo>
                <a:cubicBezTo>
                  <a:pt x="342900" y="431572"/>
                  <a:pt x="317272" y="457200"/>
                  <a:pt x="285750" y="457200"/>
                </a:cubicBezTo>
                <a:lnTo>
                  <a:pt x="57150" y="457200"/>
                </a:lnTo>
                <a:cubicBezTo>
                  <a:pt x="25628" y="457200"/>
                  <a:pt x="0" y="431572"/>
                  <a:pt x="0" y="400050"/>
                </a:cubicBezTo>
                <a:lnTo>
                  <a:pt x="0" y="200025"/>
                </a:lnTo>
                <a:cubicBezTo>
                  <a:pt x="0" y="168503"/>
                  <a:pt x="25628" y="142875"/>
                  <a:pt x="57150" y="142875"/>
                </a:cubicBezTo>
                <a:close/>
              </a:path>
            </a:pathLst>
          </a:custGeom>
          <a:solidFill>
            <a:srgbClr val="F4A2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1651000" y="1714500"/>
            <a:ext cx="342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63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Exclusión Mutua (Lock)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349500"/>
            <a:ext cx="4064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Protege el acceso concurrente a </a:t>
            </a:r>
            <a:r>
              <a:rPr lang="en-US" sz="1600" b="1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ultimo_dato</a:t>
            </a:r>
            <a:r>
              <a:rPr lang="en-US" sz="16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 variables compartidas.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Garantiza que solo un hilo modifique el estado a la vez, evitando condiciones de carrera.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42000" y="1397000"/>
            <a:ext cx="45720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5842000" y="1397000"/>
            <a:ext cx="4572000" cy="50800"/>
          </a:xfrm>
          <a:prstGeom prst="rect">
            <a:avLst/>
          </a:prstGeom>
          <a:solidFill>
            <a:srgbClr val="6C4C9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6124575" y="17145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200025" y="0"/>
                </a:moveTo>
                <a:cubicBezTo>
                  <a:pt x="184219" y="0"/>
                  <a:pt x="171450" y="12769"/>
                  <a:pt x="171450" y="28575"/>
                </a:cubicBezTo>
                <a:lnTo>
                  <a:pt x="171450" y="31433"/>
                </a:lnTo>
                <a:cubicBezTo>
                  <a:pt x="106263" y="44648"/>
                  <a:pt x="57150" y="102334"/>
                  <a:pt x="57150" y="171450"/>
                </a:cubicBezTo>
                <a:lnTo>
                  <a:pt x="57150" y="190827"/>
                </a:lnTo>
                <a:cubicBezTo>
                  <a:pt x="57150" y="233779"/>
                  <a:pt x="42505" y="275481"/>
                  <a:pt x="15716" y="309056"/>
                </a:cubicBezTo>
                <a:lnTo>
                  <a:pt x="6965" y="319951"/>
                </a:lnTo>
                <a:cubicBezTo>
                  <a:pt x="2411" y="325576"/>
                  <a:pt x="0" y="332542"/>
                  <a:pt x="0" y="339775"/>
                </a:cubicBezTo>
                <a:cubicBezTo>
                  <a:pt x="0" y="357277"/>
                  <a:pt x="14198" y="371475"/>
                  <a:pt x="31700" y="371475"/>
                </a:cubicBezTo>
                <a:lnTo>
                  <a:pt x="368260" y="371475"/>
                </a:lnTo>
                <a:cubicBezTo>
                  <a:pt x="385763" y="371475"/>
                  <a:pt x="399961" y="357277"/>
                  <a:pt x="399961" y="339775"/>
                </a:cubicBezTo>
                <a:cubicBezTo>
                  <a:pt x="399961" y="332542"/>
                  <a:pt x="397550" y="325576"/>
                  <a:pt x="392996" y="319951"/>
                </a:cubicBezTo>
                <a:lnTo>
                  <a:pt x="384244" y="309056"/>
                </a:lnTo>
                <a:cubicBezTo>
                  <a:pt x="357545" y="275481"/>
                  <a:pt x="342900" y="233779"/>
                  <a:pt x="342900" y="190827"/>
                </a:cubicBezTo>
                <a:lnTo>
                  <a:pt x="342900" y="171450"/>
                </a:lnTo>
                <a:cubicBezTo>
                  <a:pt x="342900" y="102334"/>
                  <a:pt x="293787" y="44648"/>
                  <a:pt x="228600" y="31432"/>
                </a:cubicBezTo>
                <a:lnTo>
                  <a:pt x="228600" y="28575"/>
                </a:lnTo>
                <a:cubicBezTo>
                  <a:pt x="228600" y="12769"/>
                  <a:pt x="215831" y="0"/>
                  <a:pt x="200025" y="0"/>
                </a:cubicBezTo>
                <a:close/>
                <a:moveTo>
                  <a:pt x="144661" y="414338"/>
                </a:moveTo>
                <a:cubicBezTo>
                  <a:pt x="151001" y="438983"/>
                  <a:pt x="173415" y="457200"/>
                  <a:pt x="200025" y="457200"/>
                </a:cubicBezTo>
                <a:cubicBezTo>
                  <a:pt x="226635" y="457200"/>
                  <a:pt x="249049" y="438983"/>
                  <a:pt x="255389" y="414338"/>
                </a:cubicBezTo>
                <a:lnTo>
                  <a:pt x="144661" y="414338"/>
                </a:lnTo>
                <a:close/>
              </a:path>
            </a:pathLst>
          </a:custGeom>
          <a:solidFill>
            <a:srgbClr val="6C4C9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6731000" y="1714500"/>
            <a:ext cx="342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63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Sincronización (Event)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96000" y="2349500"/>
            <a:ext cx="4064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Eventos de threading para </a:t>
            </a:r>
            <a:r>
              <a:rPr lang="en-US" sz="1600" b="1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señalización</a:t>
            </a:r>
            <a:r>
              <a:rPr lang="en-US" sz="16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entre hilos.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Permiten coordinar la parada ordenada del simulador y la sincronización de estados entre Productor y Consumidor.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922000" y="1397000"/>
            <a:ext cx="45720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10922000" y="1397000"/>
            <a:ext cx="4572000" cy="508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11176000" y="1714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57150"/>
                </a:moveTo>
                <a:cubicBezTo>
                  <a:pt x="57150" y="41344"/>
                  <a:pt x="44381" y="28575"/>
                  <a:pt x="28575" y="28575"/>
                </a:cubicBezTo>
                <a:cubicBezTo>
                  <a:pt x="12769" y="28575"/>
                  <a:pt x="0" y="41344"/>
                  <a:pt x="0" y="57150"/>
                </a:cubicBezTo>
                <a:lnTo>
                  <a:pt x="0" y="357188"/>
                </a:lnTo>
                <a:cubicBezTo>
                  <a:pt x="0" y="396657"/>
                  <a:pt x="31968" y="428625"/>
                  <a:pt x="71438" y="428625"/>
                </a:cubicBezTo>
                <a:lnTo>
                  <a:pt x="428625" y="428625"/>
                </a:lnTo>
                <a:cubicBezTo>
                  <a:pt x="444431" y="428625"/>
                  <a:pt x="457200" y="415856"/>
                  <a:pt x="457200" y="400050"/>
                </a:cubicBezTo>
                <a:cubicBezTo>
                  <a:pt x="457200" y="384244"/>
                  <a:pt x="444431" y="371475"/>
                  <a:pt x="428625" y="371475"/>
                </a:cubicBezTo>
                <a:lnTo>
                  <a:pt x="71438" y="371475"/>
                </a:lnTo>
                <a:cubicBezTo>
                  <a:pt x="63579" y="371475"/>
                  <a:pt x="57150" y="365046"/>
                  <a:pt x="57150" y="357188"/>
                </a:cubicBezTo>
                <a:lnTo>
                  <a:pt x="57150" y="57150"/>
                </a:lnTo>
                <a:close/>
                <a:moveTo>
                  <a:pt x="420231" y="134481"/>
                </a:moveTo>
                <a:cubicBezTo>
                  <a:pt x="431393" y="123319"/>
                  <a:pt x="431393" y="105192"/>
                  <a:pt x="420231" y="94030"/>
                </a:cubicBezTo>
                <a:cubicBezTo>
                  <a:pt x="409069" y="82867"/>
                  <a:pt x="390942" y="82867"/>
                  <a:pt x="379780" y="94030"/>
                </a:cubicBezTo>
                <a:lnTo>
                  <a:pt x="285750" y="188149"/>
                </a:lnTo>
                <a:lnTo>
                  <a:pt x="234494" y="136981"/>
                </a:lnTo>
                <a:cubicBezTo>
                  <a:pt x="223331" y="125819"/>
                  <a:pt x="205204" y="125819"/>
                  <a:pt x="194042" y="136981"/>
                </a:cubicBezTo>
                <a:lnTo>
                  <a:pt x="108317" y="222706"/>
                </a:lnTo>
                <a:cubicBezTo>
                  <a:pt x="97155" y="233869"/>
                  <a:pt x="97155" y="251996"/>
                  <a:pt x="108317" y="263158"/>
                </a:cubicBezTo>
                <a:cubicBezTo>
                  <a:pt x="119479" y="274320"/>
                  <a:pt x="137606" y="274320"/>
                  <a:pt x="148769" y="263158"/>
                </a:cubicBezTo>
                <a:lnTo>
                  <a:pt x="214313" y="197614"/>
                </a:lnTo>
                <a:lnTo>
                  <a:pt x="265569" y="248870"/>
                </a:lnTo>
                <a:cubicBezTo>
                  <a:pt x="276731" y="260033"/>
                  <a:pt x="294858" y="260033"/>
                  <a:pt x="306020" y="248870"/>
                </a:cubicBezTo>
                <a:lnTo>
                  <a:pt x="420320" y="134570"/>
                </a:lnTo>
                <a:close/>
              </a:path>
            </a:pathLst>
          </a:custGeom>
          <a:solidFill>
            <a:srgbClr val="2E86A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11811000" y="1714500"/>
            <a:ext cx="342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63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Hilo Monitor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176000" y="2349500"/>
            <a:ext cx="4064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Calcula </a:t>
            </a:r>
            <a:r>
              <a:rPr lang="en-US" sz="1600" b="1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estadísticas de rendimiento</a:t>
            </a:r>
            <a:r>
              <a:rPr lang="en-US" sz="16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cada 10 segundos.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Métricas: datos generados por segundo, total de datos procesados, tiempo activo y rata de generación.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2000" y="4953000"/>
            <a:ext cx="14732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Los mecanismos de sincronización garantizan la </a:t>
            </a:r>
            <a:r>
              <a:rPr lang="en-US" sz="1800" b="1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integridad de datos</a:t>
            </a:r>
            <a:r>
              <a:rPr lang="en-US" sz="18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 un entorno multihilo: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800" b="1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Lock</a:t>
            </a:r>
            <a:r>
              <a:rPr lang="en-US" sz="18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protege la lectura/escritura de </a:t>
            </a:r>
            <a:r>
              <a:rPr lang="en-US" sz="1800" i="1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ultimo_dato</a:t>
            </a:r>
            <a:r>
              <a:rPr lang="en-US" sz="18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cuando el servidor WebSocket consulta el simulador.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800" b="1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Event</a:t>
            </a:r>
            <a:r>
              <a:rPr lang="en-US" sz="18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coordina la terminación graceful de los hilos al detener la simulación.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800" b="1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</a:t>
            </a:r>
            <a:r>
              <a:rPr lang="en-US" sz="18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proporciona visibilidad en tiempo real del rendimiento del sistema.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700000" y="8826500"/>
            <a:ext cx="279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5C6B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Estación Meteorológica IoT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C4C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588000" y="2540000"/>
            <a:ext cx="508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FFFFFF">
                    <a:alpha val="18824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413000" y="3937000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Servidor WebSocket y Comunicación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048000" y="4953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Puente asíncrono entre el simulador y los clientes web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6C4C9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762000" y="381000"/>
            <a:ext cx="1016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B4F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Servidor WebSocket Asíncrono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14732000" cy="25400"/>
          </a:xfrm>
          <a:prstGeom prst="rect">
            <a:avLst/>
          </a:prstGeom>
          <a:solidFill>
            <a:srgbClr val="E0E6E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6858000" cy="469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762000" y="1397000"/>
            <a:ext cx="50800" cy="4699000"/>
          </a:xfrm>
          <a:prstGeom prst="rect">
            <a:avLst/>
          </a:prstGeom>
          <a:solidFill>
            <a:srgbClr val="6C4C9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1079500" y="1587500"/>
            <a:ext cx="6223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6C4C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Bucle Asíncrono (Asyncio)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" y="2159000"/>
            <a:ext cx="6223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 servidor opera sobre un </a:t>
            </a:r>
            <a:r>
              <a:rPr lang="en-US" sz="1600" b="1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bucle de eventos asyncio</a:t>
            </a:r>
            <a:r>
              <a:rPr lang="en-US" sz="16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sin bloquear: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Gestiona </a:t>
            </a:r>
            <a:r>
              <a:rPr lang="en-US" sz="1600" b="1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múltiples clientes</a:t>
            </a:r>
            <a:r>
              <a:rPr lang="en-US" sz="16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conectados simultáneamente.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Consulta el </a:t>
            </a:r>
            <a:r>
              <a:rPr lang="en-US" sz="1600" b="1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último dato</a:t>
            </a:r>
            <a:r>
              <a:rPr lang="en-US" sz="16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del simulador vía </a:t>
            </a:r>
            <a:r>
              <a:rPr lang="en-US" sz="1600" i="1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obtener_ultimo_dato()</a:t>
            </a:r>
            <a:r>
              <a:rPr lang="en-US" sz="16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Distribuye datos a todos los clientes en </a:t>
            </a:r>
            <a:r>
              <a:rPr lang="en-US" sz="1600" b="1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formato JSON</a:t>
            </a:r>
            <a:r>
              <a:rPr lang="en-US" sz="16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28000" y="1397000"/>
            <a:ext cx="7366000" cy="469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8128000" y="1397000"/>
            <a:ext cx="50800" cy="46990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8445500" y="1587500"/>
            <a:ext cx="6731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E86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WebSocket Client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45500" y="2159000"/>
            <a:ext cx="6731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 cliente web establece una </a:t>
            </a:r>
            <a:r>
              <a:rPr lang="en-US" sz="1800" b="1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conexión persistente</a:t>
            </a:r>
            <a:r>
              <a:rPr lang="en-US" sz="18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 el servidor: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Recibe datos en </a:t>
            </a:r>
            <a:r>
              <a:rPr lang="en-US" sz="1800" b="1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tiempo real</a:t>
            </a:r>
            <a:r>
              <a:rPr lang="en-US" sz="18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sin necesidad de recargar la página.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Los mensajes llegan como </a:t>
            </a:r>
            <a:r>
              <a:rPr lang="en-US" sz="1800" b="1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objetos JSON</a:t>
            </a:r>
            <a:r>
              <a:rPr lang="en-US" sz="18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 temperatura, humedad, viento y pronóstico.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La interfaz se </a:t>
            </a:r>
            <a:r>
              <a:rPr lang="en-US" sz="1800" b="1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actualiza automáticamente</a:t>
            </a:r>
            <a:r>
              <a:rPr lang="en-US" sz="18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 recibir cada nuevo dato.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Compatible con </a:t>
            </a:r>
            <a:r>
              <a:rPr lang="en-US" sz="1800" b="1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múltiples dispositivos</a:t>
            </a:r>
            <a:r>
              <a:rPr lang="en-US" sz="18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 navegadores simultáneamente.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6477000"/>
            <a:ext cx="14732000" cy="1270000"/>
          </a:xfrm>
          <a:prstGeom prst="rect">
            <a:avLst/>
          </a:prstGeom>
          <a:solidFill>
            <a:srgbClr val="6C4C9C">
              <a:alpha val="8235"/>
            </a:srgbClr>
          </a:solidFill>
          <a:ln w="12700">
            <a:solidFill>
              <a:srgbClr val="6C4C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1079500" y="6604000"/>
            <a:ext cx="1409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6C4C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Arquitectura puente:</a:t>
            </a:r>
            <a:r>
              <a:rPr lang="en-US" sz="16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El servidor WebSocket actúa como intermediario eficiente entre el backend concurrente (hilos) y el frontend reactivo, permitiendo comunicación bidireccional en tiempo real.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700000" y="8826500"/>
            <a:ext cx="279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5C6B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Estación Meteorológica IoT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6C4C9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762000" y="381000"/>
            <a:ext cx="1016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B4F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Flujo de Datos Paso a Paso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14732000" cy="25400"/>
          </a:xfrm>
          <a:prstGeom prst="rect">
            <a:avLst/>
          </a:prstGeom>
          <a:solidFill>
            <a:srgbClr val="E0E6E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1016000" y="1524000"/>
            <a:ext cx="558800" cy="558800"/>
          </a:xfrm>
          <a:prstGeom prst="ellipse">
            <a:avLst/>
          </a:prstGeom>
          <a:solidFill>
            <a:srgbClr val="1B7A4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016000" y="15240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78000" y="1460500"/>
            <a:ext cx="381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Productor</a:t>
            </a:r>
            <a:r>
              <a:rPr lang="en-US" sz="16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genera datos meteorológicos simulados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15000" y="1752600"/>
            <a:ext cx="508000" cy="0"/>
          </a:xfrm>
          <a:prstGeom prst="straightConnector1">
            <a:avLst/>
          </a:prstGeom>
          <a:noFill/>
          <a:ln w="25400">
            <a:solidFill>
              <a:srgbClr val="5C6B73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6477000" y="1524000"/>
            <a:ext cx="558800" cy="558800"/>
          </a:xfrm>
          <a:prstGeom prst="ellipse">
            <a:avLst/>
          </a:prstGeom>
          <a:solidFill>
            <a:srgbClr val="1B7A4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477000" y="15240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239000" y="1460500"/>
            <a:ext cx="381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Datos se insertan en la </a:t>
            </a:r>
            <a:r>
              <a:rPr lang="en-US" sz="1600" b="1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Cola</a:t>
            </a:r>
            <a:r>
              <a:rPr lang="en-US" sz="16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 el Consumidor los procesa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176000" y="1752600"/>
            <a:ext cx="508000" cy="0"/>
          </a:xfrm>
          <a:prstGeom prst="straightConnector1">
            <a:avLst/>
          </a:prstGeom>
          <a:noFill/>
          <a:ln w="25400">
            <a:solidFill>
              <a:srgbClr val="5C6B73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11938000" y="1524000"/>
            <a:ext cx="558800" cy="558800"/>
          </a:xfrm>
          <a:prstGeom prst="ellipse">
            <a:avLst/>
          </a:prstGeom>
          <a:solidFill>
            <a:srgbClr val="1B7A4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11938000" y="15240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700000" y="1460500"/>
            <a:ext cx="279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Último dato guardado en variables compartidas (Lock)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16000" y="2921000"/>
            <a:ext cx="558800" cy="558800"/>
          </a:xfrm>
          <a:prstGeom prst="ellipse">
            <a:avLst/>
          </a:prstGeom>
          <a:solidFill>
            <a:srgbClr val="6C4C9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1016000" y="29210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78000" y="2857500"/>
            <a:ext cx="381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Servidor WebSocket</a:t>
            </a:r>
            <a:r>
              <a:rPr lang="en-US" sz="16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consulta el último dato al simulador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15000" y="3149600"/>
            <a:ext cx="508000" cy="0"/>
          </a:xfrm>
          <a:prstGeom prst="straightConnector1">
            <a:avLst/>
          </a:prstGeom>
          <a:noFill/>
          <a:ln w="25400">
            <a:solidFill>
              <a:srgbClr val="5C6B73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6477000" y="2921000"/>
            <a:ext cx="558800" cy="558800"/>
          </a:xfrm>
          <a:prstGeom prst="ellipse">
            <a:avLst/>
          </a:prstGeom>
          <a:solidFill>
            <a:srgbClr val="6C4C9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6477000" y="29210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39000" y="2857500"/>
            <a:ext cx="381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Servidor envía dato a todos los clientes vía </a:t>
            </a:r>
            <a:r>
              <a:rPr lang="en-US" sz="1600" b="1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WebSocket JSON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1176000" y="3149600"/>
            <a:ext cx="508000" cy="0"/>
          </a:xfrm>
          <a:prstGeom prst="straightConnector1">
            <a:avLst/>
          </a:prstGeom>
          <a:noFill/>
          <a:ln w="25400">
            <a:solidFill>
              <a:srgbClr val="5C6B73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11938000" y="2921000"/>
            <a:ext cx="558800" cy="558800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11938000" y="29210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700000" y="2857500"/>
            <a:ext cx="279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Cliente Web</a:t>
            </a:r>
            <a:r>
              <a:rPr lang="en-US" sz="16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actualiza la interfaz en tiempo real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4318000"/>
            <a:ext cx="147320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1079500" y="4508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B4F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Resumen del Flujo de Datos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79500" y="4953000"/>
            <a:ext cx="14097000" cy="12700"/>
          </a:xfrm>
          <a:prstGeom prst="rect">
            <a:avLst/>
          </a:prstGeom>
          <a:solidFill>
            <a:srgbClr val="E0E6E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1079500" y="5143500"/>
            <a:ext cx="14097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B7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 Fase 1-3 (Simulador):</a:t>
            </a:r>
            <a:r>
              <a:rPr lang="en-US" sz="16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Generación → Encolado → Procesamiento → Estado compartido. Todo ocurre en hilos concurrentes con protección Lock.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6C4C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 Fase 4-5 (Servidor):</a:t>
            </a:r>
            <a:r>
              <a:rPr lang="en-US" sz="16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Consulta asíncrona del último dato → Broadcast JSON a todos los clientes conectados mediante WebSocket.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2E86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 Fase 6 (Cliente):</a:t>
            </a:r>
            <a:r>
              <a:rPr lang="en-US" sz="16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Recepción del mensaje WebSocket → Parseo JSON → Actualización automática del dashboard meteorológico.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700000" y="8826500"/>
            <a:ext cx="279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5C6B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Estación Meteorológica IoT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588000" y="2540000"/>
            <a:ext cx="508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FFFFFF">
                    <a:alpha val="18824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413000" y="3937000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Frontend, Rendimiento y Requisitos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048000" y="4953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Visualización del dashboard y análisis de rendimiento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762000" y="3810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B4F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 Meteorológico en Tiempo Real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14732000" cy="25400"/>
          </a:xfrm>
          <a:prstGeom prst="rect">
            <a:avLst/>
          </a:prstGeom>
          <a:solidFill>
            <a:srgbClr val="E0E6E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9144000" y="1270000"/>
            <a:ext cx="6350000" cy="622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9144000" y="1270000"/>
            <a:ext cx="50800" cy="62230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9461500" y="1460500"/>
            <a:ext cx="5715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E86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Características del Frontend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461500" y="2095500"/>
            <a:ext cx="5715000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Conexión WebSocket persistente</a:t>
            </a:r>
            <a:r>
              <a:rPr lang="en-US" sz="16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entre el navegador y el servidor.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Recepción de </a:t>
            </a:r>
            <a:r>
              <a:rPr lang="en-US" sz="1600" b="1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objetos JSON</a:t>
            </a:r>
            <a:r>
              <a:rPr lang="en-US" sz="16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 datos meteorológicos completos.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Actualización automática</a:t>
            </a:r>
            <a:r>
              <a:rPr lang="en-US" sz="16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 indicadores sin recargar la página.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Visualización de </a:t>
            </a:r>
            <a:r>
              <a:rPr lang="en-US" sz="1600" b="1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Temperatura (°C)</a:t>
            </a:r>
            <a:r>
              <a:rPr lang="en-US" sz="16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r>
              <a:rPr lang="en-US" sz="1600" b="1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Humedad (%)</a:t>
            </a:r>
            <a:r>
              <a:rPr lang="en-US" sz="16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 </a:t>
            </a:r>
            <a:r>
              <a:rPr lang="en-US" sz="1600" b="1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Viento (km/h)</a:t>
            </a:r>
            <a:r>
              <a:rPr lang="en-US" sz="16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Panel de </a:t>
            </a:r>
            <a:r>
              <a:rPr lang="en-US" sz="1600" b="1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pronóstico meteorológico</a:t>
            </a:r>
            <a:r>
              <a:rPr lang="en-US" sz="16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integrado.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Accesible desde </a:t>
            </a:r>
            <a:r>
              <a:rPr lang="en-US" sz="1600" b="1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cualquier dispositivo</a:t>
            </a:r>
            <a:r>
              <a:rPr lang="en-US" sz="16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 navegador web.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Arquitectura </a:t>
            </a:r>
            <a:r>
              <a:rPr lang="en-US" sz="1600" b="1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responsive</a:t>
            </a:r>
            <a:r>
              <a:rPr lang="en-US" sz="16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adaptada a móviles, tablets y escritorio.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2700000" y="8826500"/>
            <a:ext cx="279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5C6B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Estación Meteorológica IoT</a:t>
            </a:r>
            <a:endParaRPr lang="en-US" sz="140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755A6062-16AB-F677-FA4B-61BB7A113D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0057" y="1270000"/>
            <a:ext cx="5234811" cy="6223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762000" y="3810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B4F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Rendimiento y </a:t>
            </a:r>
            <a:r>
              <a:rPr lang="en-US" sz="2800" b="1" dirty="0" err="1">
                <a:solidFill>
                  <a:srgbClr val="0B4F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Requisitos</a:t>
            </a:r>
            <a:r>
              <a:rPr lang="en-US" sz="2800" b="1" dirty="0">
                <a:solidFill>
                  <a:srgbClr val="0B4F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800" b="1" dirty="0" err="1">
                <a:solidFill>
                  <a:srgbClr val="0B4F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Técnicos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14732000" cy="25400"/>
          </a:xfrm>
          <a:prstGeom prst="rect">
            <a:avLst/>
          </a:prstGeom>
          <a:solidFill>
            <a:srgbClr val="E0E6E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762000" y="12700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B4F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Impacto del Intervalo de Simulación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841500"/>
          <a:ext cx="6858000" cy="2286000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Intervalo de Generación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Datos por Segundo (Aprox.)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B263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 Segundo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B263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1.0 dato/s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B263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 Segundos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B263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0.5 datos/s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B263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 Segundos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B263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0.33 datos/s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62000" y="4254500"/>
            <a:ext cx="685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5C6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Muestra cómo el intervalo afecta la carga de datos del sistema.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382000" y="1270000"/>
            <a:ext cx="711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B4F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Requisitos </a:t>
            </a:r>
            <a:r>
              <a:rPr lang="en-US" sz="2000" b="1" dirty="0" err="1">
                <a:solidFill>
                  <a:srgbClr val="0B4F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Técnicos</a:t>
            </a:r>
            <a:r>
              <a:rPr lang="en-US" sz="2000" b="1" dirty="0">
                <a:solidFill>
                  <a:srgbClr val="0B4F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382000" y="1714500"/>
            <a:ext cx="711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 err="1">
                <a:solidFill>
                  <a:srgbClr val="5C6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Ecosistema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382000" y="2286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1B7A4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8890000" y="2222500"/>
            <a:ext cx="6604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Hilos Reales y Gestión de Condiciones de Carrera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382000" y="2857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1B7A4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8890000" y="2794000"/>
            <a:ext cx="6604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Uso de Sockets y Comunicaciones</a:t>
            </a:r>
            <a:endParaRPr lang="en-US" sz="1600" dirty="0"/>
          </a:p>
        </p:txBody>
      </p:sp>
      <p:sp>
        <p:nvSpPr>
          <p:cNvPr id="6" name="Shape 11"/>
          <p:cNvSpPr/>
          <p:nvPr/>
        </p:nvSpPr>
        <p:spPr>
          <a:xfrm>
            <a:off x="8382000" y="3429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6C4C9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8890000" y="3365500"/>
            <a:ext cx="6604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Implementación de Asincronía (asyncio)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382000" y="4000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6C4C9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/>
          <p:nvPr/>
        </p:nvSpPr>
        <p:spPr>
          <a:xfrm>
            <a:off x="8890000" y="3937000"/>
            <a:ext cx="6604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Análisis de Rendimiento en Tiempo Real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62000" y="5461000"/>
            <a:ext cx="14732000" cy="1778000"/>
          </a:xfrm>
          <a:prstGeom prst="rect">
            <a:avLst/>
          </a:prstGeom>
          <a:solidFill>
            <a:srgbClr val="0B4F6C">
              <a:alpha val="6275"/>
            </a:srgbClr>
          </a:solidFill>
          <a:ln w="12700">
            <a:solidFill>
              <a:srgbClr val="0B4F6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8"/>
          <p:cNvSpPr/>
          <p:nvPr/>
        </p:nvSpPr>
        <p:spPr>
          <a:xfrm>
            <a:off x="1079500" y="5651500"/>
            <a:ext cx="14097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B4F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Conclusión técnica:</a:t>
            </a:r>
            <a:r>
              <a:rPr lang="en-US" sz="16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El sistema integra programación concurrente (hilos + locks + eventos), comunicaciones en tiempo real (WebSocket + JSON), asincronía (</a:t>
            </a:r>
            <a:r>
              <a:rPr lang="en-US" sz="1600" dirty="0" err="1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asyncio</a:t>
            </a:r>
            <a:r>
              <a:rPr lang="en-US" sz="1600" dirty="0">
                <a:solidFill>
                  <a:srgbClr val="1B263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2700000" y="8826500"/>
            <a:ext cx="279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5C6B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Estación Meteorológica IoT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4F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048000" y="3048000"/>
            <a:ext cx="1016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Gracias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8000" y="4318000"/>
            <a:ext cx="2540000" cy="3810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2413000" y="4699000"/>
            <a:ext cx="1143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Estación Meteorológica IoT Concurrente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Arquitectura completa de generación, procesamiento y visualización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 datos meteorológicos en tiempo real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318000" y="7874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3764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Simulador IoT · WebSocket · Dashboard </a:t>
            </a:r>
            <a:r>
              <a:rPr lang="en-US" sz="1400" dirty="0" err="1">
                <a:solidFill>
                  <a:srgbClr val="FFFFFF">
                    <a:alpha val="3764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Interactivo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975</Words>
  <Application>Microsoft Office PowerPoint</Application>
  <PresentationFormat>Personalizado</PresentationFormat>
  <Paragraphs>144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QuattrocentoSans</vt:lpstr>
      <vt:lpstr>Liter</vt:lpstr>
      <vt:lpstr>Arial</vt:lpstr>
      <vt:lpstr>Quattrocento Sans</vt:lpstr>
      <vt:lpstr>Custom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Estación Meteorológica IoT Concurrente</dc:title>
  <dc:subject>Estación Meteorológica IoT Concurrente</dc:subject>
  <dc:creator>Kimi</dc:creator>
  <cp:lastModifiedBy>Francisco Gabriel Almazán López</cp:lastModifiedBy>
  <cp:revision>4</cp:revision>
  <dcterms:created xsi:type="dcterms:W3CDTF">2026-05-06T17:37:29Z</dcterms:created>
  <dcterms:modified xsi:type="dcterms:W3CDTF">2026-05-06T22:33:10Z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{"Label":"Estación Meteorológica IoT Concurrente","ContentProducer":"001191110108MACG2KBH8F10000","ProduceID":"19dfe597-fc02-8d1e-8000-00008e8d02e4","ReservedCode1":"","ContentPropagator":"001191110108MACG2KBH8F20000","PropagateID":"19dfe597-fc02-8d1e-8000-00008e8d02e4","ReservedCode2":""}</vt:lpwstr>
  </property>
</Properties>
</file>